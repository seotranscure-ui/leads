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0"/>
            <a:ext cx="8321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Claude Max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11480" y="23774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$100/month upgrade 5× our SEO output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drives measurable traffic &amp; lead growth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4389120"/>
            <a:ext cx="8321040" cy="2743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44348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Senior Management  •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Reality: SEO Work Is Painfully Slow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3474720"/>
          </a:xfrm>
          <a:prstGeom prst="rect">
            <a:avLst/>
          </a:prstGeom>
          <a:solidFill>
            <a:srgbClr val="EEF2F9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393192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Topical Map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time: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– 30 Days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research, competitor analysis, topic clustering — all done by hand.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960120"/>
            <a:ext cx="3931920" cy="3474720"/>
          </a:xfrm>
          <a:prstGeom prst="rect">
            <a:avLst/>
          </a:prstGeom>
          <a:solidFill>
            <a:srgbClr val="EEF2F9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960120"/>
            <a:ext cx="393192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143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Semantic Brief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time: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19659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Days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029200" y="26517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keyword research, entity mapping, outline &amp; NLP optimization per brief.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bottlenecks limit how much content we can publish — and content volume directly drives traffic.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Compresses Weeks Into Hours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502920"/>
          </a:xfrm>
          <a:prstGeom prst="rect">
            <a:avLst/>
          </a:prstGeom>
          <a:solidFill>
            <a:srgbClr val="0F1F45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60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Task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51760" y="960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Claude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0" y="960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0" y="960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Gain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8503920" cy="731520"/>
          </a:xfrm>
          <a:prstGeom prst="rect">
            <a:avLst/>
          </a:prstGeom>
          <a:solidFill>
            <a:srgbClr val="EEF2F9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087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Topical Map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1508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– 30 days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12080" y="15087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3 days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98080" y="15087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 faster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20040" y="2286000"/>
            <a:ext cx="8503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2860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Brief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51760" y="2286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days (48 hrs)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12080" y="22860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minutes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98080" y="2286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~96% faster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3291840"/>
            <a:ext cx="2468880" cy="1371600"/>
          </a:xfrm>
          <a:prstGeom prst="rect">
            <a:avLst/>
          </a:prstGeom>
          <a:solidFill>
            <a:srgbClr val="0F1F4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3375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40080" y="3977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topical maps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3291840"/>
            <a:ext cx="2468880" cy="1371600"/>
          </a:xfrm>
          <a:prstGeom prst="rect">
            <a:avLst/>
          </a:prstGeom>
          <a:solidFill>
            <a:srgbClr val="0F1F4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74720" y="33375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3–4×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3474720" y="3977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semantic briefs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3291840"/>
            <a:ext cx="2468880" cy="1371600"/>
          </a:xfrm>
          <a:prstGeom prst="rect">
            <a:avLst/>
          </a:prstGeom>
          <a:solidFill>
            <a:srgbClr val="0F1F4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09360" y="33375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6309360" y="3977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 per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brief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Content Published = More Traffic &amp; Leads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828800" cy="2286000"/>
          </a:xfrm>
          <a:prstGeom prst="rect">
            <a:avLst/>
          </a:prstGeom>
          <a:solidFill>
            <a:srgbClr val="EEF2F9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Briefs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5–7/day vs 1–2/day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55448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FA5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606040" y="1005840"/>
            <a:ext cx="1828800" cy="2286000"/>
          </a:xfrm>
          <a:prstGeom prst="rect">
            <a:avLst/>
          </a:prstGeom>
          <a:solidFill>
            <a:srgbClr val="EEF2F9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06040" y="1691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Pages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24688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faster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34840" y="155448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FA5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1828800" cy="2286000"/>
          </a:xfrm>
          <a:prstGeom prst="rect">
            <a:avLst/>
          </a:prstGeom>
          <a:solidFill>
            <a:srgbClr val="EEF2F9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54880" y="1691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Traffic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4688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indexed pages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155448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FA5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903720" y="1005840"/>
            <a:ext cx="1828800" cy="2286000"/>
          </a:xfrm>
          <a:prstGeom prst="rect">
            <a:avLst/>
          </a:prstGeom>
          <a:solidFill>
            <a:srgbClr val="0F1F45"/>
          </a:solidFill>
          <a:ln w="254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903720" y="1691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Leads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720" y="24688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ROI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SEO flywheel: faster brief production → more content published → more pages indexed → more organic traffic → more leads.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4400" y="4023360"/>
            <a:ext cx="7315200" cy="777240"/>
          </a:xfrm>
          <a:prstGeom prst="rect">
            <a:avLst/>
          </a:prstGeom>
          <a:solidFill>
            <a:srgbClr val="E8FDF5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05840" y="4023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When we can deliver more, we can expect more. Claude doesn't just save time — it expands what's possible.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$100 Plan — Not Claude Pro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3749040"/>
          </a:xfrm>
          <a:prstGeom prst="rect">
            <a:avLst/>
          </a:prstGeom>
          <a:solidFill>
            <a:srgbClr val="EEF2F9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02336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 / month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Briefs/day: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2240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briefs/day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Topical Maps: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834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Slower, limited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Tasks: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3429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capacity for other tasks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3657600" cy="27432"/>
          </a:xfrm>
          <a:prstGeom prst="rect">
            <a:avLst/>
          </a:prstGeom>
          <a:solidFill>
            <a:srgbClr val="D0D8E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limits quickly. Can't multitask.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960120"/>
            <a:ext cx="4023360" cy="3749040"/>
          </a:xfrm>
          <a:prstGeom prst="rect">
            <a:avLst/>
          </a:prstGeom>
          <a:solidFill>
            <a:srgbClr val="F0FEFA"/>
          </a:solidFill>
          <a:ln w="254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960120"/>
            <a:ext cx="4023360" cy="9144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143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Max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37760" y="1600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 / month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937760" y="2240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Briefs/day: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2240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briefs/day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2834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Topical Maps: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2834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topical maps in 1–3 days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Tasks: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3429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Extra tasks within the same session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4114800"/>
            <a:ext cx="3657600" cy="2743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the output. Room to grow.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06240" y="228600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2062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Proven — On the Limited $20 Plan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what we've already delivered with Claude Pro — imagine what's possible with fewer limits: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1325880"/>
          </a:xfrm>
          <a:prstGeom prst="rect">
            <a:avLst/>
          </a:prstGeom>
          <a:solidFill>
            <a:srgbClr val="EEF2F9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64008" cy="13258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Full-Site Schema Markup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JSON-LD schemas for every page on the site in just 1–2 days.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2968" y="1417320"/>
            <a:ext cx="2697480" cy="1325880"/>
          </a:xfrm>
          <a:prstGeom prst="rect">
            <a:avLst/>
          </a:prstGeom>
          <a:solidFill>
            <a:srgbClr val="EEF2F9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417320"/>
            <a:ext cx="64008" cy="13258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150876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Analysis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1874520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competitor gap analysis — pages, keywords, backlinks — in hours.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25896" y="1417320"/>
            <a:ext cx="2697480" cy="1325880"/>
          </a:xfrm>
          <a:prstGeom prst="rect">
            <a:avLst/>
          </a:prstGeom>
          <a:solidFill>
            <a:srgbClr val="EEF2F9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25896" y="1417320"/>
            <a:ext cx="64008" cy="13258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5" name="Text 13"/>
          <p:cNvSpPr/>
          <p:nvPr/>
        </p:nvSpPr>
        <p:spPr>
          <a:xfrm>
            <a:off x="6163056" y="150876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Research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63056" y="1874520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keyword research with intent mapping done at scale, same day.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2697480" cy="1325880"/>
          </a:xfrm>
          <a:prstGeom prst="rect">
            <a:avLst/>
          </a:prstGeom>
          <a:solidFill>
            <a:srgbClr val="EEF2F9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26080"/>
            <a:ext cx="64008" cy="13258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0175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Page Audits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383280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NLP &amp; entity audits of service pages and blog posts, batch-processed.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72968" y="2926080"/>
            <a:ext cx="2697480" cy="1325880"/>
          </a:xfrm>
          <a:prstGeom prst="rect">
            <a:avLst/>
          </a:prstGeom>
          <a:solidFill>
            <a:srgbClr val="EEF2F9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2926080"/>
            <a:ext cx="64008" cy="13258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3" name="Text 21"/>
          <p:cNvSpPr/>
          <p:nvPr/>
        </p:nvSpPr>
        <p:spPr>
          <a:xfrm>
            <a:off x="3310128" y="30175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Briefs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0128" y="3383280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content briefs with entity maps and outlines — 45 mins each.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25896" y="2926080"/>
            <a:ext cx="2697480" cy="1325880"/>
          </a:xfrm>
          <a:prstGeom prst="rect">
            <a:avLst/>
          </a:prstGeom>
          <a:solidFill>
            <a:srgbClr val="EEF2F9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25896" y="2926080"/>
            <a:ext cx="64008" cy="13258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7" name="Text 25"/>
          <p:cNvSpPr/>
          <p:nvPr/>
        </p:nvSpPr>
        <p:spPr>
          <a:xfrm>
            <a:off x="6163056" y="30175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Topical Maps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63056" y="3383280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topical authority maps built in 1–3 days instead of 15–30 days.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F1F4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this was done on the limited plan. With Claude Max, we can do it faster, more often, and at greater depth.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1005840"/>
          </a:xfrm>
          <a:prstGeom prst="rect">
            <a:avLst/>
          </a:prstGeom>
          <a:solidFill>
            <a:srgbClr val="162240"/>
          </a:solidFill>
          <a:ln w="1905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10058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one Claude account from Pro ($20/mo) to Claude Max ($100/mo).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additional cost: </a:t>
            </a:r>
            <a:pPr algn="l"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$80/month  •  $960/year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5-7 semantic briefs/day vs 1-2  (3-4x productivity gain)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5328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Full topical maps in 1-3 days instead of 15-30 days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91693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Schema, audits, keyword research &amp; competitor analysis — automated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30098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More content published → more organic traffic → more inbound leads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3703320"/>
            <a:ext cx="8321040" cy="685800"/>
          </a:xfrm>
          <a:prstGeom prst="rect">
            <a:avLst/>
          </a:prstGeom>
          <a:solidFill>
            <a:srgbClr val="00897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703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execution = faster path to revenue targets. Every day saved is a day closer to hitting our goals.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0" y="4572000"/>
            <a:ext cx="3657600" cy="384048"/>
          </a:xfrm>
          <a:prstGeom prst="rect">
            <a:avLst/>
          </a:prstGeom>
          <a:solidFill>
            <a:srgbClr val="00BFA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45720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$100/month Claude Max plan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Opportunity: 3,223-Page Topical Map — Only 8.6% Live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65960" cy="1417320"/>
          </a:xfrm>
          <a:prstGeom prst="rect">
            <a:avLst/>
          </a:prstGeom>
          <a:solidFill>
            <a:srgbClr val="0F1F4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3,223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66420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planned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topical map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50592" y="914400"/>
            <a:ext cx="1965960" cy="1417320"/>
          </a:xfrm>
          <a:prstGeom prst="rect">
            <a:avLst/>
          </a:prstGeom>
          <a:solidFill>
            <a:srgbClr val="0F1F4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9601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50592" y="166420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specialties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914400"/>
            <a:ext cx="1965960" cy="1417320"/>
          </a:xfrm>
          <a:prstGeom prst="rect">
            <a:avLst/>
          </a:prstGeom>
          <a:solidFill>
            <a:srgbClr val="0F1F4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9601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35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26864" y="166420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domain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(Ahrefs)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03136" y="914400"/>
            <a:ext cx="1965960" cy="1417320"/>
          </a:xfrm>
          <a:prstGeom prst="rect">
            <a:avLst/>
          </a:prstGeom>
          <a:solidFill>
            <a:srgbClr val="0F1F4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9601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598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803136" y="166420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ranking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4871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Execution Progress (% of 3,223 pages live)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8529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37360" y="28529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8.6% live (277 pages)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00400"/>
            <a:ext cx="8412480" cy="274320"/>
          </a:xfrm>
          <a:prstGeom prst="rect">
            <a:avLst/>
          </a:prstGeom>
          <a:solidFill>
            <a:srgbClr val="E0E8F4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3200400"/>
            <a:ext cx="723473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54787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Claude Max (12 mo)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66160" y="35478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live (+444 pages)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895344"/>
            <a:ext cx="8412480" cy="274320"/>
          </a:xfrm>
          <a:prstGeom prst="rect">
            <a:avLst/>
          </a:prstGeom>
          <a:solidFill>
            <a:srgbClr val="E0E8F4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" y="3895344"/>
            <a:ext cx="185074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24281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Claude Max (12 mo)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66160" y="42428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live (+1,980 pages)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590288"/>
            <a:ext cx="8412480" cy="274320"/>
          </a:xfrm>
          <a:prstGeom prst="rect">
            <a:avLst/>
          </a:prstGeom>
          <a:solidFill>
            <a:srgbClr val="E0E8F4"/>
          </a:solidFill>
          <a:ln/>
        </p:spPr>
      </p:sp>
      <p:sp>
        <p:nvSpPr>
          <p:cNvPr id="28" name="Shape 26"/>
          <p:cNvSpPr/>
          <p:nvPr/>
        </p:nvSpPr>
        <p:spPr>
          <a:xfrm>
            <a:off x="365760" y="4590288"/>
            <a:ext cx="5888736" cy="274320"/>
          </a:xfrm>
          <a:prstGeom prst="rect">
            <a:avLst/>
          </a:prstGeom>
          <a:solidFill>
            <a:srgbClr val="00BFA5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Revenue Projection — Ahrefs-Calibrated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475488"/>
          </a:xfrm>
          <a:prstGeom prst="rect">
            <a:avLst/>
          </a:prstGeom>
          <a:solidFill>
            <a:srgbClr val="EEF2F9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basis: Ahrefs data (DR 35 | 598 keywords | 3,651 Ahrefs traffic) • GA traffic 5,500/mo • Lead rate 0.73% • Rev/lead $187.50 • 6-mo ranking lag • Topical authority 1.25x–1.5x as clusters complete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435608"/>
            <a:ext cx="8503920" cy="438912"/>
          </a:xfrm>
          <a:prstGeom prst="rect">
            <a:avLst/>
          </a:prstGeom>
          <a:solidFill>
            <a:srgbClr val="0F1F45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" y="143560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30552" y="14356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93592" y="143560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Traffic/mo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19472" y="143560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Leads/mo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53912" y="14356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Revenue/mo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34072" y="143560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920240"/>
            <a:ext cx="8503920" cy="612648"/>
          </a:xfrm>
          <a:prstGeom prst="rect">
            <a:avLst/>
          </a:prstGeom>
          <a:solidFill>
            <a:srgbClr val="F8F9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1920240"/>
            <a:ext cx="1645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Baseline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30552" y="1920240"/>
            <a:ext cx="1371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93592" y="1920240"/>
            <a:ext cx="1234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19472" y="1920240"/>
            <a:ext cx="1143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53912" y="1920240"/>
            <a:ext cx="1188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$7,500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34072" y="1920240"/>
            <a:ext cx="1463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2569464"/>
            <a:ext cx="8503920" cy="612648"/>
          </a:xfrm>
          <a:prstGeom prst="rect">
            <a:avLst/>
          </a:prstGeom>
          <a:solidFill>
            <a:srgbClr val="FFF8E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2569464"/>
            <a:ext cx="1645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Claude Max (Pro)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30552" y="2569464"/>
            <a:ext cx="1371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+444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93592" y="2569464"/>
            <a:ext cx="1234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~8,100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19472" y="2569464"/>
            <a:ext cx="1143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~59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53912" y="2569464"/>
            <a:ext cx="1188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~$11,100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34072" y="2569464"/>
            <a:ext cx="1463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+48%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3218688"/>
            <a:ext cx="8503920" cy="612648"/>
          </a:xfrm>
          <a:prstGeom prst="rect">
            <a:avLst/>
          </a:prstGeom>
          <a:solidFill>
            <a:srgbClr val="E8FDF5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3218688"/>
            <a:ext cx="1645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Max — Conservative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30552" y="3218688"/>
            <a:ext cx="1371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+1,980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93592" y="3218688"/>
            <a:ext cx="1234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~21,600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19472" y="3218688"/>
            <a:ext cx="1143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53912" y="3218688"/>
            <a:ext cx="1188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~$29,500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34072" y="3218688"/>
            <a:ext cx="1463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+293%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0040" y="3867912"/>
            <a:ext cx="8503920" cy="612648"/>
          </a:xfrm>
          <a:prstGeom prst="rect">
            <a:avLst/>
          </a:prstGeom>
          <a:solidFill>
            <a:srgbClr val="D4F5EC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" y="3867912"/>
            <a:ext cx="1645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Max — Optimistic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130552" y="3867912"/>
            <a:ext cx="1371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+1,980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593592" y="3867912"/>
            <a:ext cx="1234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~25,900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19472" y="3867912"/>
            <a:ext cx="1143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~188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53912" y="3867912"/>
            <a:ext cx="1188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~$35,400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434072" y="3867912"/>
            <a:ext cx="1463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+372%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0F1F4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11480" y="4572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topical map potential (~5,500 ranking keywords): ~50,000 traffic/mo  •  ~367 leads/mo  •  ~$69,000+/mo revenue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Case for Claude Max</dc:title>
  <dc:subject>PptxGenJS Presentation</dc:subject>
  <dc:creator>PptxGenJS</dc:creator>
  <cp:lastModifiedBy>PptxGenJS</cp:lastModifiedBy>
  <cp:revision>1</cp:revision>
  <dcterms:created xsi:type="dcterms:W3CDTF">2026-06-03T17:21:09Z</dcterms:created>
  <dcterms:modified xsi:type="dcterms:W3CDTF">2026-06-03T17:21:09Z</dcterms:modified>
</cp:coreProperties>
</file>