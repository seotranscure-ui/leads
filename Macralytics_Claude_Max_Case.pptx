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7724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Claude Max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$100/month upgrade accelerates Macralytics from zero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topical authority on QPP &amp; MIPS — in weeks, not months.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4389120"/>
            <a:ext cx="83210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4434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Senior Management  •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Point: macralytics.com Has Zero SEO Presence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46304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7647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(Ahrefs)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65960" cy="146304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058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50592" y="17647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keywords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65960" cy="146304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058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26864" y="17647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(GA)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65960" cy="146304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058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03136" y="17647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leads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850392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850392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D0D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64008" cy="5669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912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QPP/MIPS niche has KD 0–16 across the 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447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Winnable even at DR 0 — topical authority beats domain authority here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76472"/>
            <a:ext cx="850392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D0D4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776472"/>
            <a:ext cx="64008" cy="5669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813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"mips reporting services" CPC = $700/click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organic lead is worth hundreds of dollars in equivalent paid traffic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398264"/>
            <a:ext cx="8503920" cy="566928"/>
          </a:xfrm>
          <a:prstGeom prst="rect">
            <a:avLst/>
          </a:prstGeom>
          <a:solidFill>
            <a:srgbClr val="EEF0FF"/>
          </a:solidFill>
          <a:ln w="12700">
            <a:solidFill>
              <a:srgbClr val="D0D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398264"/>
            <a:ext cx="64008" cy="5669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116-page topical map already built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690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topic, cluster and URL strategy is planned — just needs execution speed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Plan: A 116-Page QPP/MIPS Topical Authority 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2606040"/>
          </a:xfrm>
          <a:prstGeom prst="rect">
            <a:avLst/>
          </a:prstGeom>
          <a:solidFill>
            <a:srgbClr val="EEF0FF"/>
          </a:solidFill>
          <a:ln w="12700">
            <a:solidFill>
              <a:srgbClr val="D0D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6596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128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root, QPP hub, MIPS hub, APM hub, reporting hub, 7 service pages. Big-bang launch.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914400"/>
            <a:ext cx="1965960" cy="2606040"/>
          </a:xfrm>
          <a:prstGeom prst="rect">
            <a:avLst/>
          </a:prstGeom>
          <a:solidFill>
            <a:srgbClr val="EEF0FF"/>
          </a:solidFill>
          <a:ln w="12700">
            <a:solidFill>
              <a:srgbClr val="D0D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914400"/>
            <a:ext cx="19659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024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450592" y="19202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50592" y="22128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specialty pages, audience pages, EHR integrations, APM leaves, scoring deep-dives, audits.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26864" y="914400"/>
            <a:ext cx="1965960" cy="2606040"/>
          </a:xfrm>
          <a:prstGeom prst="rect">
            <a:avLst/>
          </a:prstGeom>
          <a:solidFill>
            <a:srgbClr val="EEF0FF"/>
          </a:solidFill>
          <a:ln w="12700">
            <a:solidFill>
              <a:srgbClr val="D0D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914400"/>
            <a:ext cx="196596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1024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26864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626864" y="19202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26864" y="22128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catalogs: measure lists, benchmarks, MVP list, QCDR vs Registry, eCQMs.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03136" y="914400"/>
            <a:ext cx="1965960" cy="2606040"/>
          </a:xfrm>
          <a:prstGeom prst="rect">
            <a:avLst/>
          </a:prstGeom>
          <a:solidFill>
            <a:srgbClr val="EEF0FF"/>
          </a:solidFill>
          <a:ln w="12700">
            <a:solidFill>
              <a:srgbClr val="D0D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914400"/>
            <a:ext cx="1965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803136" y="1024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03136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6803136" y="19202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03136" y="22128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94576" y="24871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scoring examples, FAQ, glossary, pricing calculator, cost-of-non-participation. Post 6-mo GSC.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703320"/>
            <a:ext cx="8503920" cy="50292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 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91640" y="3703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0604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94760" y="3703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pages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 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97880" y="3703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pages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12280" y="3703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0–16  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01000" y="3703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difficulty (all winnable)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context: QPP/MIPS reporting for U.S. physician practices — avoid -9% Medicare penalties, earn APM incentive payments.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Site, Speed Is Everything — Claude Max Delivers 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0" y="914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Max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914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8503920" cy="576072"/>
          </a:xfrm>
          <a:prstGeom prst="rect">
            <a:avLst/>
          </a:prstGeom>
          <a:solidFill>
            <a:srgbClr val="EEF0FF"/>
          </a:solidFill>
          <a:ln w="6350">
            <a:solidFill>
              <a:srgbClr val="D0D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116-Page Topical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417320"/>
            <a:ext cx="2148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months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417320"/>
            <a:ext cx="2240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days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1417320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faster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039112"/>
            <a:ext cx="8503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39112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039112"/>
            <a:ext cx="2148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039112"/>
            <a:ext cx="2240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2039112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faster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660904"/>
            <a:ext cx="8503920" cy="576072"/>
          </a:xfrm>
          <a:prstGeom prst="rect">
            <a:avLst/>
          </a:prstGeom>
          <a:solidFill>
            <a:srgbClr val="EEF0FF"/>
          </a:solidFill>
          <a:ln w="6350">
            <a:solidFill>
              <a:srgbClr val="D0D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60904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2660904"/>
            <a:ext cx="2148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2660904"/>
            <a:ext cx="2240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2660904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faster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282696"/>
            <a:ext cx="8503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82696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Page Audit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282696"/>
            <a:ext cx="2148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day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3282696"/>
            <a:ext cx="2240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minutes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3282696"/>
            <a:ext cx="1463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faster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566160"/>
            <a:ext cx="8503920" cy="1234440"/>
          </a:xfrm>
          <a:prstGeom prst="rect">
            <a:avLst/>
          </a:prstGeom>
          <a:solidFill>
            <a:srgbClr val="0E0D2E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639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speed matters most for a new site: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959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With Claude Max, all 116 pages are live in ~21 days — Google indexes a complete topical cluster immediately.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233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Fragmented publishing (1-2 pages/day) signals a thin site. Cluster completion signals authority.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507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Every week of delay is a week competitors can outrank for 'what is mips' (KD 12, TP 9,000).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 — On the Limited $20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has already been delivered with Claude Pro — imagine the pace with Claude Max: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325880"/>
          </a:xfrm>
          <a:prstGeom prst="rect">
            <a:avLst/>
          </a:prstGeom>
          <a:solidFill>
            <a:srgbClr val="EEF0FF"/>
          </a:solidFill>
          <a:ln w="12700">
            <a:solidFill>
              <a:srgbClr val="C8CB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Full-Site Schema Markup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JSON-LD schemas for every page on the site in just 1–2 days.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417320"/>
            <a:ext cx="2697480" cy="1325880"/>
          </a:xfrm>
          <a:prstGeom prst="rect">
            <a:avLst/>
          </a:prstGeom>
          <a:solidFill>
            <a:srgbClr val="EEF0FF"/>
          </a:solidFill>
          <a:ln w="12700">
            <a:solidFill>
              <a:srgbClr val="C8CB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417320"/>
            <a:ext cx="64008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8745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competitor gap analysis — pages, keywords, backlinks — in hours.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417320"/>
            <a:ext cx="2697480" cy="1325880"/>
          </a:xfrm>
          <a:prstGeom prst="rect">
            <a:avLst/>
          </a:prstGeom>
          <a:solidFill>
            <a:srgbClr val="EEF0FF"/>
          </a:solidFill>
          <a:ln w="12700">
            <a:solidFill>
              <a:srgbClr val="C8CB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25896" y="1417320"/>
            <a:ext cx="64008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15087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63056" y="187452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keyword research with intent mapping done at scale, same day.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697480" cy="1325880"/>
          </a:xfrm>
          <a:prstGeom prst="rect">
            <a:avLst/>
          </a:prstGeom>
          <a:solidFill>
            <a:srgbClr val="EEF0FF"/>
          </a:solidFill>
          <a:ln w="12700">
            <a:solidFill>
              <a:srgbClr val="C8CB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Page Audits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NLP &amp; entity audits of service pages and blog posts, batch-processed.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2926080"/>
            <a:ext cx="2697480" cy="1325880"/>
          </a:xfrm>
          <a:prstGeom prst="rect">
            <a:avLst/>
          </a:prstGeom>
          <a:solidFill>
            <a:srgbClr val="EEF0FF"/>
          </a:solidFill>
          <a:ln w="12700">
            <a:solidFill>
              <a:srgbClr val="C8CB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926080"/>
            <a:ext cx="64008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30175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38328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content briefs with entity maps and outlines in ~45 mins each.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5896" y="2926080"/>
            <a:ext cx="2697480" cy="1325880"/>
          </a:xfrm>
          <a:prstGeom prst="rect">
            <a:avLst/>
          </a:prstGeom>
          <a:solidFill>
            <a:srgbClr val="EEF0FF"/>
          </a:solidFill>
          <a:ln w="12700">
            <a:solidFill>
              <a:srgbClr val="C8CB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2926080"/>
            <a:ext cx="64008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056" y="30175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Maps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63056" y="3383280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topical authority maps built in 1–3 days instead of 15–30 days.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on the limited plan. Claude Max removes the caps — more tasks, more depth, every day.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$100 Plan — Not Claude Pro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EEF0FF"/>
          </a:solidFill>
          <a:ln w="12700">
            <a:solidFill>
              <a:srgbClr val="D0D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/ month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Briefs/day: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briefs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116-page map: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761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months to complete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28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tasks: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3284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limits quickly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657600" cy="27432"/>
          </a:xfrm>
          <a:prstGeom prst="rect">
            <a:avLst/>
          </a:prstGeom>
          <a:solidFill>
            <a:srgbClr val="D0D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content = slow indexing = slow authority.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023360" cy="3749040"/>
          </a:xfrm>
          <a:prstGeom prst="rect">
            <a:avLst/>
          </a:prstGeom>
          <a:solidFill>
            <a:srgbClr val="F0F0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402336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/ month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Briefs/day: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briefs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761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116-page map: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761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days to complete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328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tasks: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3284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Audits, research &amp; more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4114800"/>
            <a:ext cx="36576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 in 3 weeks — Google sees a complete cluster.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 Prize: Low Difficulty, High Value, No Strong Incumbent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37160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12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mips"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(TP: 9,000/mo)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65960" cy="137160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0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645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for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"mips reporting services"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65960" cy="137160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0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645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payment program"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(150 vol)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65960" cy="137160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01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0–16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645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across 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map pages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8503920" cy="384048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4231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73552" y="2423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79392" y="24231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02352" y="24231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Potential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54112" y="2423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52928"/>
            <a:ext cx="8503920" cy="310896"/>
          </a:xfrm>
          <a:prstGeom prst="rect">
            <a:avLst/>
          </a:prstGeom>
          <a:solidFill>
            <a:srgbClr val="EEF0FF"/>
          </a:solidFill>
          <a:ln w="5080">
            <a:solidFill>
              <a:srgbClr val="D0D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85292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73552" y="28529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79392" y="28529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2352" y="285292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54112" y="28529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191256"/>
            <a:ext cx="8503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0D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19125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reporting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73552" y="31912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79392" y="31912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02352" y="319125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54112" y="319125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529584"/>
            <a:ext cx="8503920" cy="310896"/>
          </a:xfrm>
          <a:prstGeom prst="rect">
            <a:avLst/>
          </a:prstGeom>
          <a:solidFill>
            <a:srgbClr val="EEF0FF"/>
          </a:solidFill>
          <a:ln w="5080">
            <a:solidFill>
              <a:srgbClr val="D0D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5295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payment program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73552" y="35295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79392" y="35295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02352" y="35295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54112" y="35295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3867912"/>
            <a:ext cx="8503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0D4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8679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score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73552" y="38679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79392" y="38679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02352" y="38679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54112" y="3867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4206240"/>
            <a:ext cx="8503920" cy="310896"/>
          </a:xfrm>
          <a:prstGeom prst="rect">
            <a:avLst/>
          </a:prstGeom>
          <a:solidFill>
            <a:srgbClr val="EEF0FF"/>
          </a:solidFill>
          <a:ln w="5080">
            <a:solidFill>
              <a:srgbClr val="D0D4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42062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reporting services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73552" y="42062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79392" y="42062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02352" y="42062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54112" y="42062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4544568"/>
            <a:ext cx="85039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0D4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" y="45445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consulting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273552" y="45445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79392" y="45445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02352" y="454456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54112" y="45445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65760" y="4919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primary keywords have KD &lt;= 16 — achievable by a new site with perfect topical authority. This niche rewards content depth, not domain 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Plan: 116 Pages in 21 Days vs 3+ Months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41732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planned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topical map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65960" cy="141732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(Foundation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Deep)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65960" cy="141732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0.8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65960" cy="141732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01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6642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87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Complete All 116 Pages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 Max (Pro)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8529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months — while other tasks wait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72968"/>
            <a:ext cx="8412480" cy="347472"/>
          </a:xfrm>
          <a:prstGeom prst="rect">
            <a:avLst/>
          </a:prstGeom>
          <a:solidFill>
            <a:srgbClr val="E0E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172968"/>
            <a:ext cx="841248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Max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3858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days — full cluster live immediately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78808"/>
            <a:ext cx="8412480" cy="347472"/>
          </a:xfrm>
          <a:prstGeom prst="rect">
            <a:avLst/>
          </a:prstGeom>
          <a:solidFill>
            <a:srgbClr val="E0E4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4178808"/>
            <a:ext cx="193487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1210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map completion = faster Google indexing = faster topical authority = faster lead generation.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Traffic &amp; Lead Projection — Ahrefs-Calibrated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475488"/>
          </a:xfrm>
          <a:prstGeom prst="rect">
            <a:avLst/>
          </a:prstGeom>
          <a:solidFill>
            <a:srgbClr val="EEF0FF"/>
          </a:solidFill>
          <a:ln w="12700">
            <a:solidFill>
              <a:srgbClr val="C8C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basis: Ahrefs data (DR 0.8 | 0 keywords today) • "what is mips" TP 9,000, KD 12 • "mips reporting services" CPC $700 • New-site authority ramp applied • 6-month ranking lag for fresh URLs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35608"/>
            <a:ext cx="8503920" cy="420624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43560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59152" y="143560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67912" y="1435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Traffic/mo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39512" y="1435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Leads/mo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8232" y="143560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Equiv.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62672" y="14356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8503920" cy="603504"/>
          </a:xfrm>
          <a:prstGeom prst="rect">
            <a:avLst/>
          </a:prstGeom>
          <a:solidFill>
            <a:srgbClr val="F8F9FA"/>
          </a:solidFill>
          <a:ln w="6350">
            <a:solidFill>
              <a:srgbClr val="D0D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92024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59152" y="192024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67912" y="192024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9512" y="192024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192024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62672" y="192024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8503920" cy="603504"/>
          </a:xfrm>
          <a:prstGeom prst="rect">
            <a:avLst/>
          </a:prstGeom>
          <a:solidFill>
            <a:srgbClr val="FFF8E8"/>
          </a:solidFill>
          <a:ln w="6350">
            <a:solidFill>
              <a:srgbClr val="D0D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5603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 Max (Pro)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59152" y="256032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67912" y="256032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9512" y="256032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28232" y="256032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~$1,000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62672" y="256032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+3,500%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8503920" cy="603504"/>
          </a:xfrm>
          <a:prstGeom prst="rect">
            <a:avLst/>
          </a:prstGeom>
          <a:solidFill>
            <a:srgbClr val="EEEEFF"/>
          </a:solidFill>
          <a:ln w="6350">
            <a:solidFill>
              <a:srgbClr val="D0D4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20040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 — Conservative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59152" y="32004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(all)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67912" y="320040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9512" y="32004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28232" y="320040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~$3,500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62672" y="320040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+10,900%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840480"/>
            <a:ext cx="8503920" cy="603504"/>
          </a:xfrm>
          <a:prstGeom prst="rect">
            <a:avLst/>
          </a:prstGeom>
          <a:solidFill>
            <a:srgbClr val="E0E0FF"/>
          </a:solidFill>
          <a:ln w="6350">
            <a:solidFill>
              <a:srgbClr val="D0D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84048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Max — Optimistic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59152" y="384048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(all)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67912" y="384048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39512" y="384048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28232" y="3840480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~$7,700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62672" y="384048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+21,900%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4507992"/>
            <a:ext cx="8503920" cy="420624"/>
          </a:xfrm>
          <a:prstGeom prst="rect">
            <a:avLst/>
          </a:prstGeom>
          <a:solidFill>
            <a:srgbClr val="12103A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50799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 potential (18–24 mo): ~1,500–2,000 traffic/mo  •  ~15–20 leads/mo  •  ~$10,500–$14,000/mo PPC equivalent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960120"/>
          </a:xfrm>
          <a:prstGeom prst="rect">
            <a:avLst/>
          </a:prstGeom>
          <a:solidFill>
            <a:srgbClr val="1A1850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one Claude account from Pro ($20/mo) to Claude Max ($100/mo).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additional cost: </a:t>
            </a:r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$80/month  •  $960/year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116-page QPP/MIPS map completed in ~21 days — not 3+ months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5–7 semantic briefs/day, full keyword research, audits &amp; competitor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Google indexes a complete topical cluster — not a drip of thin pages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~550–1,100 monthly traffic by month 12 vs ~180 without (up to +21,900%)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Each organic MIPS lead = $700 equivalent PPC value — ROI is immediate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4160520"/>
            <a:ext cx="8321040" cy="621792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6052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 = faster topical authority = faster leads. In this niche, every week matters.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4617720"/>
            <a:ext cx="3657600" cy="347472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$100/month Claude Max plan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Case for Claude Max — Macralytics</dc:title>
  <dc:subject>PptxGenJS Presentation</dc:subject>
  <dc:creator>PptxGenJS</dc:creator>
  <cp:lastModifiedBy>PptxGenJS</cp:lastModifiedBy>
  <cp:revision>1</cp:revision>
  <dcterms:created xsi:type="dcterms:W3CDTF">2026-06-03T18:30:29Z</dcterms:created>
  <dcterms:modified xsi:type="dcterms:W3CDTF">2026-06-03T18:30:29Z</dcterms:modified>
</cp:coreProperties>
</file>